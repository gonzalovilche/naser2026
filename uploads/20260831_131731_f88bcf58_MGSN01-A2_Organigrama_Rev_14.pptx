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0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3C249-B2F1-4C41-95E9-FC66219544DF}" type="datetimeFigureOut">
              <a:rPr lang="en-US" smtClean="0"/>
              <a:t>3/16/2026</a:t>
            </a:fld>
            <a:endParaRPr lang="en-U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B59BC-7C00-4257-A9C9-F6DECC2B9FFD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9059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3C249-B2F1-4C41-95E9-FC66219544DF}" type="datetimeFigureOut">
              <a:rPr lang="en-US" smtClean="0"/>
              <a:t>3/16/2026</a:t>
            </a:fld>
            <a:endParaRPr lang="en-U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B59BC-7C00-4257-A9C9-F6DECC2B9FFD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7465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3C249-B2F1-4C41-95E9-FC66219544DF}" type="datetimeFigureOut">
              <a:rPr lang="en-US" smtClean="0"/>
              <a:t>3/16/2026</a:t>
            </a:fld>
            <a:endParaRPr lang="en-U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B59BC-7C00-4257-A9C9-F6DECC2B9FFD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5080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3C249-B2F1-4C41-95E9-FC66219544DF}" type="datetimeFigureOut">
              <a:rPr lang="en-US" smtClean="0"/>
              <a:t>3/16/2026</a:t>
            </a:fld>
            <a:endParaRPr lang="en-US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B59BC-7C00-4257-A9C9-F6DECC2B9FFD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8390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3C249-B2F1-4C41-95E9-FC66219544DF}" type="datetimeFigureOut">
              <a:rPr lang="en-US" smtClean="0"/>
              <a:t>3/16/2026</a:t>
            </a:fld>
            <a:endParaRPr lang="en-US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B59BC-7C00-4257-A9C9-F6DECC2B9FFD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0151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3C249-B2F1-4C41-95E9-FC66219544DF}" type="datetimeFigureOut">
              <a:rPr lang="en-US" smtClean="0"/>
              <a:t>3/16/2026</a:t>
            </a:fld>
            <a:endParaRPr lang="en-U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B59BC-7C00-4257-A9C9-F6DECC2B9FFD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3305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3C249-B2F1-4C41-95E9-FC66219544DF}" type="datetimeFigureOut">
              <a:rPr lang="en-US" smtClean="0"/>
              <a:t>3/16/2026</a:t>
            </a:fld>
            <a:endParaRPr lang="en-US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B59BC-7C00-4257-A9C9-F6DECC2B9FFD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2972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3C249-B2F1-4C41-95E9-FC66219544DF}" type="datetimeFigureOut">
              <a:rPr lang="en-US" smtClean="0"/>
              <a:t>3/16/2026</a:t>
            </a:fld>
            <a:endParaRPr lang="en-US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B59BC-7C00-4257-A9C9-F6DECC2B9FFD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5207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3C249-B2F1-4C41-95E9-FC66219544DF}" type="datetimeFigureOut">
              <a:rPr lang="en-US" smtClean="0"/>
              <a:t>3/16/2026</a:t>
            </a:fld>
            <a:endParaRPr lang="en-US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B59BC-7C00-4257-A9C9-F6DECC2B9FFD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9104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3C249-B2F1-4C41-95E9-FC66219544DF}" type="datetimeFigureOut">
              <a:rPr lang="en-US" smtClean="0"/>
              <a:t>3/16/2026</a:t>
            </a:fld>
            <a:endParaRPr lang="en-U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B59BC-7C00-4257-A9C9-F6DECC2B9FFD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503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3C249-B2F1-4C41-95E9-FC66219544DF}" type="datetimeFigureOut">
              <a:rPr lang="en-US" smtClean="0"/>
              <a:t>3/16/2026</a:t>
            </a:fld>
            <a:endParaRPr lang="en-U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B59BC-7C00-4257-A9C9-F6DECC2B9FFD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138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93C249-B2F1-4C41-95E9-FC66219544DF}" type="datetimeFigureOut">
              <a:rPr lang="en-US" smtClean="0"/>
              <a:t>3/16/2026</a:t>
            </a:fld>
            <a:endParaRPr lang="en-U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3B59BC-7C00-4257-A9C9-F6DECC2B9FFD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3279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957E2-6F00-3012-45A5-F24F02BCE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64F508D-FC67-6E2F-AC8A-4142ED6E93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442" y="365761"/>
            <a:ext cx="1133333" cy="609524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EC71BF04-3C52-3C03-F5D9-E4F8D466EDBB}"/>
              </a:ext>
            </a:extLst>
          </p:cNvPr>
          <p:cNvSpPr/>
          <p:nvPr/>
        </p:nvSpPr>
        <p:spPr>
          <a:xfrm>
            <a:off x="10136777" y="365761"/>
            <a:ext cx="1828800" cy="56170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chemeClr val="tx1"/>
                </a:solidFill>
              </a:rPr>
              <a:t>MGSN01-A2</a:t>
            </a:r>
          </a:p>
          <a:p>
            <a:pPr algn="ctr"/>
            <a:r>
              <a:rPr lang="es-ES" sz="1200" dirty="0">
                <a:solidFill>
                  <a:schemeClr val="tx1"/>
                </a:solidFill>
              </a:rPr>
              <a:t>Rev.15 Feb 2026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6F177B5-16B9-CA9F-39E7-C34AA08E97A9}"/>
              </a:ext>
            </a:extLst>
          </p:cNvPr>
          <p:cNvSpPr/>
          <p:nvPr/>
        </p:nvSpPr>
        <p:spPr>
          <a:xfrm>
            <a:off x="6035813" y="516023"/>
            <a:ext cx="1080000" cy="72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tx1"/>
                </a:solidFill>
              </a:rPr>
              <a:t>GERENTE GENERAL</a:t>
            </a:r>
            <a:endParaRPr lang="es-AR" sz="900" dirty="0">
              <a:solidFill>
                <a:schemeClr val="tx1"/>
              </a:solidFill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9A48703B-DA98-7ECC-1AB8-DCB8A3B32DC0}"/>
              </a:ext>
            </a:extLst>
          </p:cNvPr>
          <p:cNvSpPr/>
          <p:nvPr/>
        </p:nvSpPr>
        <p:spPr>
          <a:xfrm>
            <a:off x="6044540" y="1379689"/>
            <a:ext cx="1080000" cy="72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900" dirty="0">
                <a:solidFill>
                  <a:schemeClr val="tx1"/>
                </a:solidFill>
              </a:rPr>
              <a:t>GERENTE COMERCIAL Y OPERATIVO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FED68F61-5F85-8197-EDE8-8F37B8033ADD}"/>
              </a:ext>
            </a:extLst>
          </p:cNvPr>
          <p:cNvSpPr/>
          <p:nvPr/>
        </p:nvSpPr>
        <p:spPr>
          <a:xfrm>
            <a:off x="5221997" y="2505420"/>
            <a:ext cx="1080000" cy="72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tx1"/>
                </a:solidFill>
              </a:rPr>
              <a:t>RESPONSABLE COMERCIAL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22B93FAE-DC98-7AA5-E5A1-486D74EBADFB}"/>
              </a:ext>
            </a:extLst>
          </p:cNvPr>
          <p:cNvSpPr/>
          <p:nvPr/>
        </p:nvSpPr>
        <p:spPr>
          <a:xfrm>
            <a:off x="8282091" y="2492326"/>
            <a:ext cx="1080000" cy="72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tx1"/>
                </a:solidFill>
              </a:rPr>
              <a:t>RESPONSABLE SISTEMA DE GESTION</a:t>
            </a:r>
            <a:endParaRPr lang="es-AR" sz="900" dirty="0">
              <a:solidFill>
                <a:schemeClr val="tx1"/>
              </a:solidFill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94D44356-25B3-BCB4-755E-46662602DE3C}"/>
              </a:ext>
            </a:extLst>
          </p:cNvPr>
          <p:cNvSpPr/>
          <p:nvPr/>
        </p:nvSpPr>
        <p:spPr>
          <a:xfrm>
            <a:off x="3752828" y="2502585"/>
            <a:ext cx="1080000" cy="72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>
                <a:solidFill>
                  <a:schemeClr val="tx1"/>
                </a:solidFill>
              </a:rPr>
              <a:t>COORDINADOR OPERACIONES</a:t>
            </a:r>
            <a:endParaRPr lang="es-AR" sz="900" dirty="0">
              <a:solidFill>
                <a:schemeClr val="tx1"/>
              </a:solidFill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92C3A675-2D13-5789-D7AE-6837DFE9C304}"/>
              </a:ext>
            </a:extLst>
          </p:cNvPr>
          <p:cNvSpPr/>
          <p:nvPr/>
        </p:nvSpPr>
        <p:spPr>
          <a:xfrm>
            <a:off x="3752828" y="3439100"/>
            <a:ext cx="1080000" cy="72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tx1"/>
                </a:solidFill>
              </a:rPr>
              <a:t>SUPERVISOR </a:t>
            </a:r>
          </a:p>
          <a:p>
            <a:pPr algn="ctr"/>
            <a:r>
              <a:rPr lang="es-ES" sz="900" dirty="0">
                <a:solidFill>
                  <a:schemeClr val="tx1"/>
                </a:solidFill>
              </a:rPr>
              <a:t>OPERACIONES</a:t>
            </a:r>
            <a:endParaRPr lang="es-AR" sz="900" dirty="0">
              <a:solidFill>
                <a:schemeClr val="tx1"/>
              </a:solidFill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683C7FA1-7C85-D5F7-B039-70DE39906FCF}"/>
              </a:ext>
            </a:extLst>
          </p:cNvPr>
          <p:cNvSpPr/>
          <p:nvPr/>
        </p:nvSpPr>
        <p:spPr>
          <a:xfrm>
            <a:off x="2977972" y="4453128"/>
            <a:ext cx="1080000" cy="72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tx1"/>
                </a:solidFill>
              </a:rPr>
              <a:t>OPERADOR </a:t>
            </a:r>
          </a:p>
          <a:p>
            <a:pPr algn="ctr"/>
            <a:r>
              <a:rPr lang="es-ES" sz="900" dirty="0">
                <a:solidFill>
                  <a:schemeClr val="tx1"/>
                </a:solidFill>
              </a:rPr>
              <a:t>SLICK LINE</a:t>
            </a:r>
            <a:endParaRPr lang="es-AR" sz="900" dirty="0">
              <a:solidFill>
                <a:schemeClr val="tx1"/>
              </a:solidFill>
            </a:endParaRP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F03AB751-E8AB-34E9-5A86-8B073B91E151}"/>
              </a:ext>
            </a:extLst>
          </p:cNvPr>
          <p:cNvSpPr/>
          <p:nvPr/>
        </p:nvSpPr>
        <p:spPr>
          <a:xfrm>
            <a:off x="5221997" y="3451120"/>
            <a:ext cx="1080000" cy="72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tx1"/>
                </a:solidFill>
              </a:rPr>
              <a:t>CONTROL DOCUMENTAL</a:t>
            </a:r>
            <a:endParaRPr lang="es-AR" sz="900" dirty="0">
              <a:solidFill>
                <a:schemeClr val="tx1"/>
              </a:solidFill>
            </a:endParaRP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A35FC255-0F6D-0701-23EF-E2BC3A2A5748}"/>
              </a:ext>
            </a:extLst>
          </p:cNvPr>
          <p:cNvSpPr/>
          <p:nvPr/>
        </p:nvSpPr>
        <p:spPr>
          <a:xfrm>
            <a:off x="6768443" y="3440939"/>
            <a:ext cx="1080000" cy="72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tx1"/>
                </a:solidFill>
              </a:rPr>
              <a:t>RESPONSABLE RRHH - COMPRAS</a:t>
            </a:r>
            <a:endParaRPr lang="es-AR" sz="900" dirty="0">
              <a:solidFill>
                <a:schemeClr val="tx1"/>
              </a:solidFill>
            </a:endParaRP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10E88FA9-D99E-03B0-3951-F8CB6B917389}"/>
              </a:ext>
            </a:extLst>
          </p:cNvPr>
          <p:cNvSpPr/>
          <p:nvPr/>
        </p:nvSpPr>
        <p:spPr>
          <a:xfrm>
            <a:off x="8237035" y="3440939"/>
            <a:ext cx="1080000" cy="72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tx1"/>
                </a:solidFill>
              </a:rPr>
              <a:t>GESTION DE PROVEEDORES</a:t>
            </a:r>
            <a:endParaRPr lang="es-AR" sz="900" dirty="0">
              <a:solidFill>
                <a:schemeClr val="tx1"/>
              </a:solidFill>
            </a:endParaRP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E5BC20AE-86F4-2B11-1165-34254D61C6BF}"/>
              </a:ext>
            </a:extLst>
          </p:cNvPr>
          <p:cNvSpPr/>
          <p:nvPr/>
        </p:nvSpPr>
        <p:spPr>
          <a:xfrm>
            <a:off x="755049" y="2250806"/>
            <a:ext cx="1080000" cy="72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tx1"/>
                </a:solidFill>
              </a:rPr>
              <a:t>RESPONSABLE MEDICINA LABORAL</a:t>
            </a:r>
            <a:endParaRPr lang="es-AR" sz="900" dirty="0">
              <a:solidFill>
                <a:schemeClr val="tx1"/>
              </a:solidFill>
            </a:endParaRP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8921D138-976A-1484-0625-C970EE0FBC3C}"/>
              </a:ext>
            </a:extLst>
          </p:cNvPr>
          <p:cNvSpPr/>
          <p:nvPr/>
        </p:nvSpPr>
        <p:spPr>
          <a:xfrm>
            <a:off x="741314" y="1396078"/>
            <a:ext cx="1080000" cy="72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tx1"/>
                </a:solidFill>
              </a:rPr>
              <a:t>RESPONSABLE HIGIENE Y SEGURIDAD</a:t>
            </a:r>
            <a:endParaRPr lang="es-AR" sz="900" dirty="0">
              <a:solidFill>
                <a:schemeClr val="tx1"/>
              </a:solidFill>
            </a:endParaRP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13A5DD1D-C209-B3BE-3222-B779E3E18B48}"/>
              </a:ext>
            </a:extLst>
          </p:cNvPr>
          <p:cNvSpPr/>
          <p:nvPr/>
        </p:nvSpPr>
        <p:spPr>
          <a:xfrm>
            <a:off x="755049" y="4050684"/>
            <a:ext cx="1080000" cy="72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tx1"/>
                </a:solidFill>
              </a:rPr>
              <a:t>RESPONSABLE AMBIENTE</a:t>
            </a:r>
            <a:endParaRPr lang="es-AR" sz="900" dirty="0">
              <a:solidFill>
                <a:schemeClr val="tx1"/>
              </a:solidFill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C5E559C1-9269-2247-6922-AC406D4F79C5}"/>
              </a:ext>
            </a:extLst>
          </p:cNvPr>
          <p:cNvSpPr/>
          <p:nvPr/>
        </p:nvSpPr>
        <p:spPr>
          <a:xfrm>
            <a:off x="755049" y="4917572"/>
            <a:ext cx="1080000" cy="72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tx1"/>
                </a:solidFill>
              </a:rPr>
              <a:t>SERVICIO CONTABLE</a:t>
            </a:r>
            <a:endParaRPr lang="es-AR" sz="900" dirty="0">
              <a:solidFill>
                <a:schemeClr val="tx1"/>
              </a:solidFill>
            </a:endParaRP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364976AE-5E0D-55AB-2858-D038BF466A9E}"/>
              </a:ext>
            </a:extLst>
          </p:cNvPr>
          <p:cNvSpPr/>
          <p:nvPr/>
        </p:nvSpPr>
        <p:spPr>
          <a:xfrm>
            <a:off x="741314" y="3150745"/>
            <a:ext cx="1080000" cy="72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tx1"/>
                </a:solidFill>
              </a:rPr>
              <a:t>SERVICIO LEGAL</a:t>
            </a:r>
            <a:endParaRPr lang="es-AR" sz="900" dirty="0">
              <a:solidFill>
                <a:schemeClr val="tx1"/>
              </a:solidFill>
            </a:endParaRPr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FDB22039-D9EE-910C-1769-E79970A1A281}"/>
              </a:ext>
            </a:extLst>
          </p:cNvPr>
          <p:cNvCxnSpPr/>
          <p:nvPr/>
        </p:nvCxnSpPr>
        <p:spPr>
          <a:xfrm flipH="1">
            <a:off x="1844364" y="2610806"/>
            <a:ext cx="188330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793D73D2-EAF1-C584-2ACD-84682E77DFCF}"/>
              </a:ext>
            </a:extLst>
          </p:cNvPr>
          <p:cNvCxnSpPr/>
          <p:nvPr/>
        </p:nvCxnSpPr>
        <p:spPr>
          <a:xfrm flipH="1">
            <a:off x="1826717" y="3510345"/>
            <a:ext cx="188330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F428D4CE-18FC-6A87-90B5-2A5B81D92E8B}"/>
              </a:ext>
            </a:extLst>
          </p:cNvPr>
          <p:cNvCxnSpPr/>
          <p:nvPr/>
        </p:nvCxnSpPr>
        <p:spPr>
          <a:xfrm flipH="1">
            <a:off x="1838678" y="4410684"/>
            <a:ext cx="188330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3A2AF6D9-C159-72B7-10BB-989C564CB187}"/>
              </a:ext>
            </a:extLst>
          </p:cNvPr>
          <p:cNvCxnSpPr/>
          <p:nvPr/>
        </p:nvCxnSpPr>
        <p:spPr>
          <a:xfrm flipH="1">
            <a:off x="1832890" y="5277572"/>
            <a:ext cx="188330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70707333-C184-2183-8FC1-B0A4F1DA3B54}"/>
              </a:ext>
            </a:extLst>
          </p:cNvPr>
          <p:cNvCxnSpPr/>
          <p:nvPr/>
        </p:nvCxnSpPr>
        <p:spPr>
          <a:xfrm flipH="1">
            <a:off x="2026955" y="1743909"/>
            <a:ext cx="23050" cy="3533654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EEF1E25E-74AD-23DB-08F6-4790F1BB32C3}"/>
              </a:ext>
            </a:extLst>
          </p:cNvPr>
          <p:cNvCxnSpPr/>
          <p:nvPr/>
        </p:nvCxnSpPr>
        <p:spPr>
          <a:xfrm>
            <a:off x="4287762" y="3222585"/>
            <a:ext cx="0" cy="225659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AE2F7015-8A29-B559-FE86-EB80A7996825}"/>
              </a:ext>
            </a:extLst>
          </p:cNvPr>
          <p:cNvCxnSpPr/>
          <p:nvPr/>
        </p:nvCxnSpPr>
        <p:spPr>
          <a:xfrm>
            <a:off x="5782331" y="3336050"/>
            <a:ext cx="0" cy="10800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cto 47">
            <a:extLst>
              <a:ext uri="{FF2B5EF4-FFF2-40B4-BE49-F238E27FC236}">
                <a16:creationId xmlns:a16="http://schemas.microsoft.com/office/drawing/2014/main" id="{F04538B0-54E8-EE2D-A37C-C033AACE497D}"/>
              </a:ext>
            </a:extLst>
          </p:cNvPr>
          <p:cNvCxnSpPr>
            <a:stCxn id="54" idx="2"/>
          </p:cNvCxnSpPr>
          <p:nvPr/>
        </p:nvCxnSpPr>
        <p:spPr>
          <a:xfrm>
            <a:off x="7325381" y="3225420"/>
            <a:ext cx="0" cy="21600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cto 48">
            <a:extLst>
              <a:ext uri="{FF2B5EF4-FFF2-40B4-BE49-F238E27FC236}">
                <a16:creationId xmlns:a16="http://schemas.microsoft.com/office/drawing/2014/main" id="{905ACA69-42B5-5EBC-3DE7-071597E502FC}"/>
              </a:ext>
            </a:extLst>
          </p:cNvPr>
          <p:cNvCxnSpPr/>
          <p:nvPr/>
        </p:nvCxnSpPr>
        <p:spPr>
          <a:xfrm>
            <a:off x="8760481" y="3329700"/>
            <a:ext cx="0" cy="10800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D6E7049C-76A1-1094-4427-878900A7D426}"/>
              </a:ext>
            </a:extLst>
          </p:cNvPr>
          <p:cNvCxnSpPr/>
          <p:nvPr/>
        </p:nvCxnSpPr>
        <p:spPr>
          <a:xfrm flipH="1">
            <a:off x="5782332" y="3333302"/>
            <a:ext cx="2978149" cy="3633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ángulo 53">
            <a:extLst>
              <a:ext uri="{FF2B5EF4-FFF2-40B4-BE49-F238E27FC236}">
                <a16:creationId xmlns:a16="http://schemas.microsoft.com/office/drawing/2014/main" id="{D15AC536-41FC-3480-99E5-F102818E68A9}"/>
              </a:ext>
            </a:extLst>
          </p:cNvPr>
          <p:cNvSpPr/>
          <p:nvPr/>
        </p:nvSpPr>
        <p:spPr>
          <a:xfrm>
            <a:off x="6785381" y="2505420"/>
            <a:ext cx="1080000" cy="72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tx1"/>
                </a:solidFill>
              </a:rPr>
              <a:t>RESPONSABLE </a:t>
            </a:r>
          </a:p>
          <a:p>
            <a:pPr algn="ctr"/>
            <a:r>
              <a:rPr lang="es-ES" sz="900" dirty="0">
                <a:solidFill>
                  <a:schemeClr val="tx1"/>
                </a:solidFill>
              </a:rPr>
              <a:t>ADMINISTRACION</a:t>
            </a:r>
          </a:p>
        </p:txBody>
      </p:sp>
      <p:cxnSp>
        <p:nvCxnSpPr>
          <p:cNvPr id="67" name="Conector recto 66">
            <a:extLst>
              <a:ext uri="{FF2B5EF4-FFF2-40B4-BE49-F238E27FC236}">
                <a16:creationId xmlns:a16="http://schemas.microsoft.com/office/drawing/2014/main" id="{E6EE4B3E-4739-FB31-6119-2A96857B776B}"/>
              </a:ext>
            </a:extLst>
          </p:cNvPr>
          <p:cNvCxnSpPr/>
          <p:nvPr/>
        </p:nvCxnSpPr>
        <p:spPr>
          <a:xfrm flipH="1">
            <a:off x="2934970" y="2388722"/>
            <a:ext cx="7164000" cy="3633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ector recto 67">
            <a:extLst>
              <a:ext uri="{FF2B5EF4-FFF2-40B4-BE49-F238E27FC236}">
                <a16:creationId xmlns:a16="http://schemas.microsoft.com/office/drawing/2014/main" id="{8450853E-D8AF-3889-3490-6FB563582068}"/>
              </a:ext>
            </a:extLst>
          </p:cNvPr>
          <p:cNvCxnSpPr/>
          <p:nvPr/>
        </p:nvCxnSpPr>
        <p:spPr>
          <a:xfrm>
            <a:off x="4282079" y="2396484"/>
            <a:ext cx="0" cy="10800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ángulo 50">
            <a:extLst>
              <a:ext uri="{FF2B5EF4-FFF2-40B4-BE49-F238E27FC236}">
                <a16:creationId xmlns:a16="http://schemas.microsoft.com/office/drawing/2014/main" id="{9C1A998F-AA72-6148-C552-2DBD907CEF3B}"/>
              </a:ext>
            </a:extLst>
          </p:cNvPr>
          <p:cNvSpPr/>
          <p:nvPr/>
        </p:nvSpPr>
        <p:spPr>
          <a:xfrm>
            <a:off x="2989803" y="5389643"/>
            <a:ext cx="1080000" cy="72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tx1"/>
                </a:solidFill>
              </a:rPr>
              <a:t>AYUDANTE </a:t>
            </a:r>
          </a:p>
          <a:p>
            <a:pPr algn="ctr"/>
            <a:r>
              <a:rPr lang="es-ES" sz="900" dirty="0">
                <a:solidFill>
                  <a:schemeClr val="tx1"/>
                </a:solidFill>
              </a:rPr>
              <a:t>SLICK LINE</a:t>
            </a:r>
            <a:endParaRPr lang="es-AR" sz="900" dirty="0">
              <a:solidFill>
                <a:schemeClr val="tx1"/>
              </a:solidFill>
            </a:endParaRPr>
          </a:p>
        </p:txBody>
      </p:sp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2D8A5BFE-737D-8338-9804-EF1A0908FE07}"/>
              </a:ext>
            </a:extLst>
          </p:cNvPr>
          <p:cNvCxnSpPr/>
          <p:nvPr/>
        </p:nvCxnSpPr>
        <p:spPr>
          <a:xfrm>
            <a:off x="3517972" y="5163984"/>
            <a:ext cx="0" cy="225659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cto 52">
            <a:extLst>
              <a:ext uri="{FF2B5EF4-FFF2-40B4-BE49-F238E27FC236}">
                <a16:creationId xmlns:a16="http://schemas.microsoft.com/office/drawing/2014/main" id="{1164D64F-C28A-7D45-9D6D-CD34BA3A5741}"/>
              </a:ext>
            </a:extLst>
          </p:cNvPr>
          <p:cNvCxnSpPr/>
          <p:nvPr/>
        </p:nvCxnSpPr>
        <p:spPr>
          <a:xfrm>
            <a:off x="6603280" y="1231134"/>
            <a:ext cx="0" cy="14400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cto 54">
            <a:extLst>
              <a:ext uri="{FF2B5EF4-FFF2-40B4-BE49-F238E27FC236}">
                <a16:creationId xmlns:a16="http://schemas.microsoft.com/office/drawing/2014/main" id="{4366A741-BD8C-F89B-DB67-71A84B5F89D3}"/>
              </a:ext>
            </a:extLst>
          </p:cNvPr>
          <p:cNvCxnSpPr/>
          <p:nvPr/>
        </p:nvCxnSpPr>
        <p:spPr>
          <a:xfrm>
            <a:off x="6600112" y="2101640"/>
            <a:ext cx="0" cy="28800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cto 57">
            <a:extLst>
              <a:ext uri="{FF2B5EF4-FFF2-40B4-BE49-F238E27FC236}">
                <a16:creationId xmlns:a16="http://schemas.microsoft.com/office/drawing/2014/main" id="{31467034-7A24-A633-966F-4E1F47A1DA1F}"/>
              </a:ext>
            </a:extLst>
          </p:cNvPr>
          <p:cNvCxnSpPr/>
          <p:nvPr/>
        </p:nvCxnSpPr>
        <p:spPr>
          <a:xfrm>
            <a:off x="5755279" y="2396484"/>
            <a:ext cx="0" cy="10800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recto 63">
            <a:extLst>
              <a:ext uri="{FF2B5EF4-FFF2-40B4-BE49-F238E27FC236}">
                <a16:creationId xmlns:a16="http://schemas.microsoft.com/office/drawing/2014/main" id="{B8C8A4AF-6B6B-3347-A7C5-F5C47DB3B049}"/>
              </a:ext>
            </a:extLst>
          </p:cNvPr>
          <p:cNvCxnSpPr/>
          <p:nvPr/>
        </p:nvCxnSpPr>
        <p:spPr>
          <a:xfrm>
            <a:off x="7325381" y="2396484"/>
            <a:ext cx="0" cy="10800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recto 64">
            <a:extLst>
              <a:ext uri="{FF2B5EF4-FFF2-40B4-BE49-F238E27FC236}">
                <a16:creationId xmlns:a16="http://schemas.microsoft.com/office/drawing/2014/main" id="{A432DECA-AFCE-E8B5-1459-E7EFAA20C5E4}"/>
              </a:ext>
            </a:extLst>
          </p:cNvPr>
          <p:cNvCxnSpPr/>
          <p:nvPr/>
        </p:nvCxnSpPr>
        <p:spPr>
          <a:xfrm>
            <a:off x="8800244" y="2396484"/>
            <a:ext cx="0" cy="10800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cto 65">
            <a:extLst>
              <a:ext uri="{FF2B5EF4-FFF2-40B4-BE49-F238E27FC236}">
                <a16:creationId xmlns:a16="http://schemas.microsoft.com/office/drawing/2014/main" id="{A9AA195A-74BE-935E-65C4-8A8D87389C6B}"/>
              </a:ext>
            </a:extLst>
          </p:cNvPr>
          <p:cNvCxnSpPr/>
          <p:nvPr/>
        </p:nvCxnSpPr>
        <p:spPr>
          <a:xfrm>
            <a:off x="10097923" y="2388722"/>
            <a:ext cx="0" cy="10800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ángulo 59">
            <a:extLst>
              <a:ext uri="{FF2B5EF4-FFF2-40B4-BE49-F238E27FC236}">
                <a16:creationId xmlns:a16="http://schemas.microsoft.com/office/drawing/2014/main" id="{11F02A5D-BE80-CB01-2E5D-F7C49F35A236}"/>
              </a:ext>
            </a:extLst>
          </p:cNvPr>
          <p:cNvSpPr/>
          <p:nvPr/>
        </p:nvSpPr>
        <p:spPr>
          <a:xfrm>
            <a:off x="4541660" y="4444406"/>
            <a:ext cx="1080000" cy="72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tx1"/>
                </a:solidFill>
              </a:rPr>
              <a:t>OPERADOR </a:t>
            </a:r>
          </a:p>
          <a:p>
            <a:pPr algn="ctr"/>
            <a:r>
              <a:rPr lang="es-ES" sz="900" dirty="0">
                <a:solidFill>
                  <a:schemeClr val="tx1"/>
                </a:solidFill>
              </a:rPr>
              <a:t>WELL TESTING</a:t>
            </a:r>
            <a:endParaRPr lang="es-AR" sz="900" dirty="0">
              <a:solidFill>
                <a:schemeClr val="tx1"/>
              </a:solidFill>
            </a:endParaRPr>
          </a:p>
        </p:txBody>
      </p:sp>
      <p:sp>
        <p:nvSpPr>
          <p:cNvPr id="61" name="Rectángulo 60">
            <a:extLst>
              <a:ext uri="{FF2B5EF4-FFF2-40B4-BE49-F238E27FC236}">
                <a16:creationId xmlns:a16="http://schemas.microsoft.com/office/drawing/2014/main" id="{EC3EA2DB-F483-1F5B-04B1-8F30A959DC65}"/>
              </a:ext>
            </a:extLst>
          </p:cNvPr>
          <p:cNvSpPr/>
          <p:nvPr/>
        </p:nvSpPr>
        <p:spPr>
          <a:xfrm>
            <a:off x="4557984" y="5386470"/>
            <a:ext cx="1080000" cy="72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tx1"/>
                </a:solidFill>
              </a:rPr>
              <a:t>AYUDANTE </a:t>
            </a:r>
          </a:p>
          <a:p>
            <a:pPr algn="ctr"/>
            <a:r>
              <a:rPr lang="es-ES" sz="900" dirty="0">
                <a:solidFill>
                  <a:schemeClr val="tx1"/>
                </a:solidFill>
              </a:rPr>
              <a:t>WELL TESTING</a:t>
            </a:r>
            <a:endParaRPr lang="es-AR" sz="900" dirty="0">
              <a:solidFill>
                <a:schemeClr val="tx1"/>
              </a:solidFill>
            </a:endParaRPr>
          </a:p>
        </p:txBody>
      </p:sp>
      <p:cxnSp>
        <p:nvCxnSpPr>
          <p:cNvPr id="62" name="Conector recto 61">
            <a:extLst>
              <a:ext uri="{FF2B5EF4-FFF2-40B4-BE49-F238E27FC236}">
                <a16:creationId xmlns:a16="http://schemas.microsoft.com/office/drawing/2014/main" id="{30A707BD-4B85-3640-81A0-335C6F048700}"/>
              </a:ext>
            </a:extLst>
          </p:cNvPr>
          <p:cNvCxnSpPr/>
          <p:nvPr/>
        </p:nvCxnSpPr>
        <p:spPr>
          <a:xfrm>
            <a:off x="5068148" y="5154719"/>
            <a:ext cx="0" cy="225659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ector angular 2">
            <a:extLst>
              <a:ext uri="{FF2B5EF4-FFF2-40B4-BE49-F238E27FC236}">
                <a16:creationId xmlns:a16="http://schemas.microsoft.com/office/drawing/2014/main" id="{87C98B0B-3DC1-CFBD-5385-9A0D6EE6CB28}"/>
              </a:ext>
            </a:extLst>
          </p:cNvPr>
          <p:cNvCxnSpPr>
            <a:stCxn id="20" idx="2"/>
            <a:endCxn id="60" idx="0"/>
          </p:cNvCxnSpPr>
          <p:nvPr/>
        </p:nvCxnSpPr>
        <p:spPr>
          <a:xfrm rot="16200000" flipH="1">
            <a:off x="4544591" y="3907337"/>
            <a:ext cx="285306" cy="788832"/>
          </a:xfrm>
          <a:prstGeom prst="bentConnector3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angular 62">
            <a:extLst>
              <a:ext uri="{FF2B5EF4-FFF2-40B4-BE49-F238E27FC236}">
                <a16:creationId xmlns:a16="http://schemas.microsoft.com/office/drawing/2014/main" id="{263CE8E0-E276-1DB5-EEEC-ED304A4AD99C}"/>
              </a:ext>
            </a:extLst>
          </p:cNvPr>
          <p:cNvCxnSpPr>
            <a:stCxn id="20" idx="2"/>
            <a:endCxn id="21" idx="0"/>
          </p:cNvCxnSpPr>
          <p:nvPr/>
        </p:nvCxnSpPr>
        <p:spPr>
          <a:xfrm rot="5400000">
            <a:off x="3758386" y="3918686"/>
            <a:ext cx="294028" cy="774856"/>
          </a:xfrm>
          <a:prstGeom prst="bentConnector3">
            <a:avLst>
              <a:gd name="adj1" fmla="val 50000"/>
            </a:avLst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ángulo 1">
            <a:extLst>
              <a:ext uri="{FF2B5EF4-FFF2-40B4-BE49-F238E27FC236}">
                <a16:creationId xmlns:a16="http://schemas.microsoft.com/office/drawing/2014/main" id="{EF6D65AD-3B98-124D-518C-BCFF2B5D67F9}"/>
              </a:ext>
            </a:extLst>
          </p:cNvPr>
          <p:cNvSpPr/>
          <p:nvPr/>
        </p:nvSpPr>
        <p:spPr>
          <a:xfrm>
            <a:off x="9573261" y="2502585"/>
            <a:ext cx="1080000" cy="72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tx1"/>
                </a:solidFill>
              </a:rPr>
              <a:t>RESPONSABLE DE MANTENIMIENTO ELECTRONICO</a:t>
            </a:r>
            <a:endParaRPr lang="es-AR" sz="900" dirty="0">
              <a:solidFill>
                <a:schemeClr val="tx1"/>
              </a:solidFill>
            </a:endParaRP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3F1ABB20-B2C2-BE27-2133-54A4C464BACB}"/>
              </a:ext>
            </a:extLst>
          </p:cNvPr>
          <p:cNvCxnSpPr/>
          <p:nvPr/>
        </p:nvCxnSpPr>
        <p:spPr>
          <a:xfrm>
            <a:off x="2940195" y="2393610"/>
            <a:ext cx="0" cy="10800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ángulo 9">
            <a:extLst>
              <a:ext uri="{FF2B5EF4-FFF2-40B4-BE49-F238E27FC236}">
                <a16:creationId xmlns:a16="http://schemas.microsoft.com/office/drawing/2014/main" id="{431A43E3-2EE1-B9B9-13BD-62371F5A79E2}"/>
              </a:ext>
            </a:extLst>
          </p:cNvPr>
          <p:cNvSpPr/>
          <p:nvPr/>
        </p:nvSpPr>
        <p:spPr>
          <a:xfrm>
            <a:off x="2421187" y="2502585"/>
            <a:ext cx="1080000" cy="72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tx1"/>
                </a:solidFill>
              </a:rPr>
              <a:t>ESPECIALISTA EN SLICKLINE</a:t>
            </a:r>
            <a:endParaRPr lang="es-AR" sz="900" dirty="0">
              <a:solidFill>
                <a:schemeClr val="tx1"/>
              </a:solidFill>
            </a:endParaRP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8C3F2799-9135-A43C-33E3-B655DE69B0C7}"/>
              </a:ext>
            </a:extLst>
          </p:cNvPr>
          <p:cNvCxnSpPr/>
          <p:nvPr/>
        </p:nvCxnSpPr>
        <p:spPr>
          <a:xfrm flipH="1">
            <a:off x="1858350" y="1721802"/>
            <a:ext cx="4176000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8959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442" y="365761"/>
            <a:ext cx="1133333" cy="609524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10136777" y="365761"/>
            <a:ext cx="1828800" cy="56170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chemeClr val="tx1"/>
                </a:solidFill>
              </a:rPr>
              <a:t>MGSN01-A2</a:t>
            </a:r>
          </a:p>
          <a:p>
            <a:pPr algn="ctr"/>
            <a:r>
              <a:rPr lang="es-ES" sz="1200" dirty="0">
                <a:solidFill>
                  <a:schemeClr val="tx1"/>
                </a:solidFill>
              </a:rPr>
              <a:t>Rev.14 Oct 2025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6035813" y="516023"/>
            <a:ext cx="1080000" cy="72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tx1"/>
                </a:solidFill>
              </a:rPr>
              <a:t>GERENTE GENERAL</a:t>
            </a:r>
            <a:endParaRPr lang="es-AR" sz="900" dirty="0">
              <a:solidFill>
                <a:schemeClr val="tx1"/>
              </a:solidFill>
            </a:endParaRPr>
          </a:p>
        </p:txBody>
      </p:sp>
      <p:sp>
        <p:nvSpPr>
          <p:cNvPr id="14" name="Rectángulo 13"/>
          <p:cNvSpPr/>
          <p:nvPr/>
        </p:nvSpPr>
        <p:spPr>
          <a:xfrm>
            <a:off x="6044540" y="1379689"/>
            <a:ext cx="1080000" cy="72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900" dirty="0">
                <a:solidFill>
                  <a:schemeClr val="tx1"/>
                </a:solidFill>
              </a:rPr>
              <a:t>GERENTE COMERCIAL Y OPERATIVO</a:t>
            </a:r>
          </a:p>
        </p:txBody>
      </p:sp>
      <p:sp>
        <p:nvSpPr>
          <p:cNvPr id="16" name="Rectángulo 15"/>
          <p:cNvSpPr/>
          <p:nvPr/>
        </p:nvSpPr>
        <p:spPr>
          <a:xfrm>
            <a:off x="5221997" y="2505420"/>
            <a:ext cx="1080000" cy="72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tx1"/>
                </a:solidFill>
              </a:rPr>
              <a:t>RESPONSABLE COMERCIAL</a:t>
            </a:r>
          </a:p>
        </p:txBody>
      </p:sp>
      <p:sp>
        <p:nvSpPr>
          <p:cNvPr id="17" name="Rectángulo 16"/>
          <p:cNvSpPr/>
          <p:nvPr/>
        </p:nvSpPr>
        <p:spPr>
          <a:xfrm>
            <a:off x="9584675" y="2492326"/>
            <a:ext cx="1080000" cy="72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tx1"/>
                </a:solidFill>
              </a:rPr>
              <a:t>RESPONSABLE SISTEMA DE GESTION</a:t>
            </a:r>
            <a:endParaRPr lang="es-AR" sz="900" dirty="0">
              <a:solidFill>
                <a:schemeClr val="tx1"/>
              </a:solidFill>
            </a:endParaRPr>
          </a:p>
        </p:txBody>
      </p:sp>
      <p:sp>
        <p:nvSpPr>
          <p:cNvPr id="18" name="Rectángulo 17"/>
          <p:cNvSpPr/>
          <p:nvPr/>
        </p:nvSpPr>
        <p:spPr>
          <a:xfrm>
            <a:off x="3752828" y="2502585"/>
            <a:ext cx="1080000" cy="72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>
                <a:solidFill>
                  <a:schemeClr val="tx1"/>
                </a:solidFill>
              </a:rPr>
              <a:t>COORDINADOR OPERACIONES</a:t>
            </a:r>
            <a:endParaRPr lang="es-AR" sz="900" dirty="0">
              <a:solidFill>
                <a:schemeClr val="tx1"/>
              </a:solidFill>
            </a:endParaRPr>
          </a:p>
        </p:txBody>
      </p:sp>
      <p:sp>
        <p:nvSpPr>
          <p:cNvPr id="20" name="Rectángulo 19"/>
          <p:cNvSpPr/>
          <p:nvPr/>
        </p:nvSpPr>
        <p:spPr>
          <a:xfrm>
            <a:off x="3752828" y="3439100"/>
            <a:ext cx="1080000" cy="72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tx1"/>
                </a:solidFill>
              </a:rPr>
              <a:t>SUPERVISOR </a:t>
            </a:r>
          </a:p>
          <a:p>
            <a:pPr algn="ctr"/>
            <a:r>
              <a:rPr lang="es-ES" sz="900" dirty="0">
                <a:solidFill>
                  <a:schemeClr val="tx1"/>
                </a:solidFill>
              </a:rPr>
              <a:t>OPERACIONES</a:t>
            </a:r>
            <a:endParaRPr lang="es-AR" sz="900" dirty="0">
              <a:solidFill>
                <a:schemeClr val="tx1"/>
              </a:solidFill>
            </a:endParaRPr>
          </a:p>
        </p:txBody>
      </p:sp>
      <p:sp>
        <p:nvSpPr>
          <p:cNvPr id="21" name="Rectángulo 20"/>
          <p:cNvSpPr/>
          <p:nvPr/>
        </p:nvSpPr>
        <p:spPr>
          <a:xfrm>
            <a:off x="2977972" y="4453128"/>
            <a:ext cx="1080000" cy="72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tx1"/>
                </a:solidFill>
              </a:rPr>
              <a:t>OPERADOR </a:t>
            </a:r>
          </a:p>
          <a:p>
            <a:pPr algn="ctr"/>
            <a:r>
              <a:rPr lang="es-ES" sz="900" dirty="0">
                <a:solidFill>
                  <a:schemeClr val="tx1"/>
                </a:solidFill>
              </a:rPr>
              <a:t>SLICK LINE</a:t>
            </a:r>
            <a:endParaRPr lang="es-AR" sz="900" dirty="0">
              <a:solidFill>
                <a:schemeClr val="tx1"/>
              </a:solidFill>
            </a:endParaRPr>
          </a:p>
        </p:txBody>
      </p:sp>
      <p:sp>
        <p:nvSpPr>
          <p:cNvPr id="23" name="Rectángulo 22"/>
          <p:cNvSpPr/>
          <p:nvPr/>
        </p:nvSpPr>
        <p:spPr>
          <a:xfrm>
            <a:off x="5221997" y="3451120"/>
            <a:ext cx="1080000" cy="72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tx1"/>
                </a:solidFill>
              </a:rPr>
              <a:t>CONTROL DOCUMENTAL</a:t>
            </a:r>
            <a:endParaRPr lang="es-AR" sz="900" dirty="0">
              <a:solidFill>
                <a:schemeClr val="tx1"/>
              </a:solidFill>
            </a:endParaRPr>
          </a:p>
        </p:txBody>
      </p:sp>
      <p:sp>
        <p:nvSpPr>
          <p:cNvPr id="24" name="Rectángulo 23"/>
          <p:cNvSpPr/>
          <p:nvPr/>
        </p:nvSpPr>
        <p:spPr>
          <a:xfrm>
            <a:off x="6768443" y="3440939"/>
            <a:ext cx="1080000" cy="72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tx1"/>
                </a:solidFill>
              </a:rPr>
              <a:t>RESPONSABLE RRHH - COMPRAS</a:t>
            </a:r>
            <a:endParaRPr lang="es-AR" sz="900" dirty="0">
              <a:solidFill>
                <a:schemeClr val="tx1"/>
              </a:solidFill>
            </a:endParaRPr>
          </a:p>
        </p:txBody>
      </p:sp>
      <p:sp>
        <p:nvSpPr>
          <p:cNvPr id="25" name="Rectángulo 24"/>
          <p:cNvSpPr/>
          <p:nvPr/>
        </p:nvSpPr>
        <p:spPr>
          <a:xfrm>
            <a:off x="8237035" y="3440939"/>
            <a:ext cx="1080000" cy="72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tx1"/>
                </a:solidFill>
              </a:rPr>
              <a:t>GESTION DE PROVEEDORES</a:t>
            </a:r>
            <a:endParaRPr lang="es-AR" sz="900" dirty="0">
              <a:solidFill>
                <a:schemeClr val="tx1"/>
              </a:solidFill>
            </a:endParaRPr>
          </a:p>
        </p:txBody>
      </p:sp>
      <p:sp>
        <p:nvSpPr>
          <p:cNvPr id="26" name="Rectángulo 25"/>
          <p:cNvSpPr/>
          <p:nvPr/>
        </p:nvSpPr>
        <p:spPr>
          <a:xfrm>
            <a:off x="755049" y="2250806"/>
            <a:ext cx="1080000" cy="72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tx1"/>
                </a:solidFill>
              </a:rPr>
              <a:t>RESPONSABLE MEDICINA LABORAL</a:t>
            </a:r>
            <a:endParaRPr lang="es-AR" sz="900" dirty="0">
              <a:solidFill>
                <a:schemeClr val="tx1"/>
              </a:solidFill>
            </a:endParaRPr>
          </a:p>
        </p:txBody>
      </p:sp>
      <p:sp>
        <p:nvSpPr>
          <p:cNvPr id="27" name="Rectángulo 26"/>
          <p:cNvSpPr/>
          <p:nvPr/>
        </p:nvSpPr>
        <p:spPr>
          <a:xfrm>
            <a:off x="741314" y="1396078"/>
            <a:ext cx="1080000" cy="72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tx1"/>
                </a:solidFill>
              </a:rPr>
              <a:t>RESPONSABLE HIGIENE Y SEGURIDAD</a:t>
            </a:r>
            <a:endParaRPr lang="es-AR" sz="900" dirty="0">
              <a:solidFill>
                <a:schemeClr val="tx1"/>
              </a:solidFill>
            </a:endParaRPr>
          </a:p>
        </p:txBody>
      </p:sp>
      <p:sp>
        <p:nvSpPr>
          <p:cNvPr id="28" name="Rectángulo 27"/>
          <p:cNvSpPr/>
          <p:nvPr/>
        </p:nvSpPr>
        <p:spPr>
          <a:xfrm>
            <a:off x="755049" y="4050684"/>
            <a:ext cx="1080000" cy="72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tx1"/>
                </a:solidFill>
              </a:rPr>
              <a:t>RESPONSABLE AMBIENTE</a:t>
            </a:r>
            <a:endParaRPr lang="es-AR" sz="900" dirty="0">
              <a:solidFill>
                <a:schemeClr val="tx1"/>
              </a:solidFill>
            </a:endParaRPr>
          </a:p>
        </p:txBody>
      </p:sp>
      <p:sp>
        <p:nvSpPr>
          <p:cNvPr id="29" name="Rectángulo 28"/>
          <p:cNvSpPr/>
          <p:nvPr/>
        </p:nvSpPr>
        <p:spPr>
          <a:xfrm>
            <a:off x="755049" y="4917572"/>
            <a:ext cx="1080000" cy="72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tx1"/>
                </a:solidFill>
              </a:rPr>
              <a:t>SERVICIO CONTABLE</a:t>
            </a:r>
            <a:endParaRPr lang="es-AR" sz="900" dirty="0">
              <a:solidFill>
                <a:schemeClr val="tx1"/>
              </a:solidFill>
            </a:endParaRPr>
          </a:p>
        </p:txBody>
      </p:sp>
      <p:sp>
        <p:nvSpPr>
          <p:cNvPr id="30" name="Rectángulo 29"/>
          <p:cNvSpPr/>
          <p:nvPr/>
        </p:nvSpPr>
        <p:spPr>
          <a:xfrm>
            <a:off x="741314" y="3150745"/>
            <a:ext cx="1080000" cy="72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tx1"/>
                </a:solidFill>
              </a:rPr>
              <a:t>SERVICIO LEGAL</a:t>
            </a:r>
            <a:endParaRPr lang="es-AR" sz="900" dirty="0">
              <a:solidFill>
                <a:schemeClr val="tx1"/>
              </a:solidFill>
            </a:endParaRPr>
          </a:p>
        </p:txBody>
      </p:sp>
      <p:cxnSp>
        <p:nvCxnSpPr>
          <p:cNvPr id="33" name="Conector recto 32"/>
          <p:cNvCxnSpPr/>
          <p:nvPr/>
        </p:nvCxnSpPr>
        <p:spPr>
          <a:xfrm flipH="1">
            <a:off x="1844364" y="2610806"/>
            <a:ext cx="188330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34"/>
          <p:cNvCxnSpPr/>
          <p:nvPr/>
        </p:nvCxnSpPr>
        <p:spPr>
          <a:xfrm flipH="1">
            <a:off x="1826717" y="3510345"/>
            <a:ext cx="188330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/>
          <p:cNvCxnSpPr/>
          <p:nvPr/>
        </p:nvCxnSpPr>
        <p:spPr>
          <a:xfrm flipH="1">
            <a:off x="1838678" y="4410684"/>
            <a:ext cx="188330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36"/>
          <p:cNvCxnSpPr/>
          <p:nvPr/>
        </p:nvCxnSpPr>
        <p:spPr>
          <a:xfrm flipH="1">
            <a:off x="1832890" y="5277572"/>
            <a:ext cx="188330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37"/>
          <p:cNvCxnSpPr/>
          <p:nvPr/>
        </p:nvCxnSpPr>
        <p:spPr>
          <a:xfrm flipH="1">
            <a:off x="2026955" y="1743909"/>
            <a:ext cx="23050" cy="3533654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44"/>
          <p:cNvCxnSpPr/>
          <p:nvPr/>
        </p:nvCxnSpPr>
        <p:spPr>
          <a:xfrm>
            <a:off x="4287762" y="3222585"/>
            <a:ext cx="0" cy="225659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46"/>
          <p:cNvCxnSpPr/>
          <p:nvPr/>
        </p:nvCxnSpPr>
        <p:spPr>
          <a:xfrm>
            <a:off x="5782331" y="3336050"/>
            <a:ext cx="0" cy="10800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cto 47"/>
          <p:cNvCxnSpPr>
            <a:stCxn id="54" idx="2"/>
          </p:cNvCxnSpPr>
          <p:nvPr/>
        </p:nvCxnSpPr>
        <p:spPr>
          <a:xfrm>
            <a:off x="7325381" y="3225420"/>
            <a:ext cx="0" cy="21600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cto 48"/>
          <p:cNvCxnSpPr/>
          <p:nvPr/>
        </p:nvCxnSpPr>
        <p:spPr>
          <a:xfrm>
            <a:off x="8760481" y="3329700"/>
            <a:ext cx="0" cy="10800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49"/>
          <p:cNvCxnSpPr/>
          <p:nvPr/>
        </p:nvCxnSpPr>
        <p:spPr>
          <a:xfrm flipH="1">
            <a:off x="5782332" y="3333302"/>
            <a:ext cx="2978149" cy="3633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ángulo 53"/>
          <p:cNvSpPr/>
          <p:nvPr/>
        </p:nvSpPr>
        <p:spPr>
          <a:xfrm>
            <a:off x="6785381" y="2505420"/>
            <a:ext cx="1080000" cy="72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tx1"/>
                </a:solidFill>
              </a:rPr>
              <a:t>RESPONSABLE </a:t>
            </a:r>
          </a:p>
          <a:p>
            <a:pPr algn="ctr"/>
            <a:r>
              <a:rPr lang="es-ES" sz="900" dirty="0">
                <a:solidFill>
                  <a:schemeClr val="tx1"/>
                </a:solidFill>
              </a:rPr>
              <a:t>ADMINISTRACION</a:t>
            </a:r>
          </a:p>
        </p:txBody>
      </p:sp>
      <p:cxnSp>
        <p:nvCxnSpPr>
          <p:cNvPr id="67" name="Conector recto 66"/>
          <p:cNvCxnSpPr/>
          <p:nvPr/>
        </p:nvCxnSpPr>
        <p:spPr>
          <a:xfrm flipH="1">
            <a:off x="2934970" y="2388722"/>
            <a:ext cx="8460000" cy="3633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ector recto 67"/>
          <p:cNvCxnSpPr/>
          <p:nvPr/>
        </p:nvCxnSpPr>
        <p:spPr>
          <a:xfrm>
            <a:off x="4282079" y="2396484"/>
            <a:ext cx="0" cy="10800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ángulo 42"/>
          <p:cNvSpPr/>
          <p:nvPr/>
        </p:nvSpPr>
        <p:spPr>
          <a:xfrm>
            <a:off x="8256408" y="2502585"/>
            <a:ext cx="1080000" cy="72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tx1"/>
                </a:solidFill>
              </a:rPr>
              <a:t>REFERENTE HSE</a:t>
            </a:r>
          </a:p>
        </p:txBody>
      </p:sp>
      <p:sp>
        <p:nvSpPr>
          <p:cNvPr id="51" name="Rectángulo 50"/>
          <p:cNvSpPr/>
          <p:nvPr/>
        </p:nvSpPr>
        <p:spPr>
          <a:xfrm>
            <a:off x="2989803" y="5389643"/>
            <a:ext cx="1080000" cy="72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tx1"/>
                </a:solidFill>
              </a:rPr>
              <a:t>AYUDANTE </a:t>
            </a:r>
          </a:p>
          <a:p>
            <a:pPr algn="ctr"/>
            <a:r>
              <a:rPr lang="es-ES" sz="900" dirty="0">
                <a:solidFill>
                  <a:schemeClr val="tx1"/>
                </a:solidFill>
              </a:rPr>
              <a:t>SLICK LINE</a:t>
            </a:r>
            <a:endParaRPr lang="es-AR" sz="900" dirty="0">
              <a:solidFill>
                <a:schemeClr val="tx1"/>
              </a:solidFill>
            </a:endParaRPr>
          </a:p>
        </p:txBody>
      </p:sp>
      <p:cxnSp>
        <p:nvCxnSpPr>
          <p:cNvPr id="52" name="Conector recto 51"/>
          <p:cNvCxnSpPr/>
          <p:nvPr/>
        </p:nvCxnSpPr>
        <p:spPr>
          <a:xfrm>
            <a:off x="3517972" y="5163984"/>
            <a:ext cx="0" cy="225659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cto 52"/>
          <p:cNvCxnSpPr/>
          <p:nvPr/>
        </p:nvCxnSpPr>
        <p:spPr>
          <a:xfrm>
            <a:off x="6603280" y="1231134"/>
            <a:ext cx="0" cy="14400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cto 54"/>
          <p:cNvCxnSpPr/>
          <p:nvPr/>
        </p:nvCxnSpPr>
        <p:spPr>
          <a:xfrm>
            <a:off x="6600112" y="2101640"/>
            <a:ext cx="0" cy="28800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cto 57"/>
          <p:cNvCxnSpPr/>
          <p:nvPr/>
        </p:nvCxnSpPr>
        <p:spPr>
          <a:xfrm>
            <a:off x="5755279" y="2396484"/>
            <a:ext cx="0" cy="10800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recto 63"/>
          <p:cNvCxnSpPr/>
          <p:nvPr/>
        </p:nvCxnSpPr>
        <p:spPr>
          <a:xfrm>
            <a:off x="7325381" y="2396484"/>
            <a:ext cx="0" cy="10800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recto 64"/>
          <p:cNvCxnSpPr/>
          <p:nvPr/>
        </p:nvCxnSpPr>
        <p:spPr>
          <a:xfrm>
            <a:off x="8800244" y="2396484"/>
            <a:ext cx="0" cy="10800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cto 65"/>
          <p:cNvCxnSpPr/>
          <p:nvPr/>
        </p:nvCxnSpPr>
        <p:spPr>
          <a:xfrm>
            <a:off x="10097923" y="2388722"/>
            <a:ext cx="0" cy="10800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ángulo 59"/>
          <p:cNvSpPr/>
          <p:nvPr/>
        </p:nvSpPr>
        <p:spPr>
          <a:xfrm>
            <a:off x="4541660" y="4444406"/>
            <a:ext cx="1080000" cy="72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tx1"/>
                </a:solidFill>
              </a:rPr>
              <a:t>OPERADOR </a:t>
            </a:r>
          </a:p>
          <a:p>
            <a:pPr algn="ctr"/>
            <a:r>
              <a:rPr lang="es-ES" sz="900" dirty="0">
                <a:solidFill>
                  <a:schemeClr val="tx1"/>
                </a:solidFill>
              </a:rPr>
              <a:t>WELL TESTING</a:t>
            </a:r>
            <a:endParaRPr lang="es-AR" sz="900" dirty="0">
              <a:solidFill>
                <a:schemeClr val="tx1"/>
              </a:solidFill>
            </a:endParaRPr>
          </a:p>
        </p:txBody>
      </p:sp>
      <p:sp>
        <p:nvSpPr>
          <p:cNvPr id="61" name="Rectángulo 60"/>
          <p:cNvSpPr/>
          <p:nvPr/>
        </p:nvSpPr>
        <p:spPr>
          <a:xfrm>
            <a:off x="4557984" y="5386470"/>
            <a:ext cx="1080000" cy="72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tx1"/>
                </a:solidFill>
              </a:rPr>
              <a:t>AYUDANTE </a:t>
            </a:r>
          </a:p>
          <a:p>
            <a:pPr algn="ctr"/>
            <a:r>
              <a:rPr lang="es-ES" sz="900" dirty="0">
                <a:solidFill>
                  <a:schemeClr val="tx1"/>
                </a:solidFill>
              </a:rPr>
              <a:t>WELL TESTING</a:t>
            </a:r>
            <a:endParaRPr lang="es-AR" sz="900" dirty="0">
              <a:solidFill>
                <a:schemeClr val="tx1"/>
              </a:solidFill>
            </a:endParaRPr>
          </a:p>
        </p:txBody>
      </p:sp>
      <p:cxnSp>
        <p:nvCxnSpPr>
          <p:cNvPr id="62" name="Conector recto 61"/>
          <p:cNvCxnSpPr/>
          <p:nvPr/>
        </p:nvCxnSpPr>
        <p:spPr>
          <a:xfrm>
            <a:off x="5068148" y="5154719"/>
            <a:ext cx="0" cy="225659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ector angular 2"/>
          <p:cNvCxnSpPr>
            <a:stCxn id="20" idx="2"/>
            <a:endCxn id="60" idx="0"/>
          </p:cNvCxnSpPr>
          <p:nvPr/>
        </p:nvCxnSpPr>
        <p:spPr>
          <a:xfrm rot="16200000" flipH="1">
            <a:off x="4544591" y="3907337"/>
            <a:ext cx="285306" cy="788832"/>
          </a:xfrm>
          <a:prstGeom prst="bentConnector3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angular 62"/>
          <p:cNvCxnSpPr>
            <a:stCxn id="20" idx="2"/>
            <a:endCxn id="21" idx="0"/>
          </p:cNvCxnSpPr>
          <p:nvPr/>
        </p:nvCxnSpPr>
        <p:spPr>
          <a:xfrm rot="5400000">
            <a:off x="3758386" y="3918686"/>
            <a:ext cx="294028" cy="774856"/>
          </a:xfrm>
          <a:prstGeom prst="bentConnector3">
            <a:avLst>
              <a:gd name="adj1" fmla="val 50000"/>
            </a:avLst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ángulo 1">
            <a:extLst>
              <a:ext uri="{FF2B5EF4-FFF2-40B4-BE49-F238E27FC236}">
                <a16:creationId xmlns:a16="http://schemas.microsoft.com/office/drawing/2014/main" id="{6AC6956D-0395-6904-4EF9-19CE431D065F}"/>
              </a:ext>
            </a:extLst>
          </p:cNvPr>
          <p:cNvSpPr/>
          <p:nvPr/>
        </p:nvSpPr>
        <p:spPr>
          <a:xfrm>
            <a:off x="10875841" y="2502585"/>
            <a:ext cx="1080000" cy="72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tx1"/>
                </a:solidFill>
              </a:rPr>
              <a:t>RESPONSABLE DE MANTENIMIENTO ELECTRONICO</a:t>
            </a:r>
            <a:endParaRPr lang="es-AR" sz="900" dirty="0">
              <a:solidFill>
                <a:schemeClr val="tx1"/>
              </a:solidFill>
            </a:endParaRP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742E8E7A-6119-9731-67DB-3ED317E41836}"/>
              </a:ext>
            </a:extLst>
          </p:cNvPr>
          <p:cNvCxnSpPr/>
          <p:nvPr/>
        </p:nvCxnSpPr>
        <p:spPr>
          <a:xfrm>
            <a:off x="2940195" y="2393610"/>
            <a:ext cx="0" cy="10800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7D012E7F-5BFA-73AC-E1C5-8F0C96F64ED5}"/>
              </a:ext>
            </a:extLst>
          </p:cNvPr>
          <p:cNvCxnSpPr/>
          <p:nvPr/>
        </p:nvCxnSpPr>
        <p:spPr>
          <a:xfrm>
            <a:off x="11397637" y="2385846"/>
            <a:ext cx="0" cy="10800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ángulo 9">
            <a:extLst>
              <a:ext uri="{FF2B5EF4-FFF2-40B4-BE49-F238E27FC236}">
                <a16:creationId xmlns:a16="http://schemas.microsoft.com/office/drawing/2014/main" id="{7DF0BF2E-EEEF-77B6-857D-0A53B4EC4AD8}"/>
              </a:ext>
            </a:extLst>
          </p:cNvPr>
          <p:cNvSpPr/>
          <p:nvPr/>
        </p:nvSpPr>
        <p:spPr>
          <a:xfrm>
            <a:off x="2421187" y="2502585"/>
            <a:ext cx="1080000" cy="72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tx1"/>
                </a:solidFill>
              </a:rPr>
              <a:t>ESPECIALISTA EN SLICKLINE</a:t>
            </a:r>
            <a:endParaRPr lang="es-AR" sz="900" dirty="0">
              <a:solidFill>
                <a:schemeClr val="tx1"/>
              </a:solidFill>
            </a:endParaRP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08A558B6-9A8A-DEE5-712B-0C6C5040507A}"/>
              </a:ext>
            </a:extLst>
          </p:cNvPr>
          <p:cNvCxnSpPr/>
          <p:nvPr/>
        </p:nvCxnSpPr>
        <p:spPr>
          <a:xfrm flipH="1">
            <a:off x="1858350" y="1721802"/>
            <a:ext cx="4176000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649895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1854</TotalTime>
  <Words>132</Words>
  <Application>Microsoft Office PowerPoint</Application>
  <PresentationFormat>Panorámica</PresentationFormat>
  <Paragraphs>59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ARIEL</dc:creator>
  <cp:lastModifiedBy>Ariel Costallat</cp:lastModifiedBy>
  <cp:revision>60</cp:revision>
  <cp:lastPrinted>2026-01-05T11:27:43Z</cp:lastPrinted>
  <dcterms:created xsi:type="dcterms:W3CDTF">2020-03-07T13:17:53Z</dcterms:created>
  <dcterms:modified xsi:type="dcterms:W3CDTF">2026-03-16T20:05:21Z</dcterms:modified>
</cp:coreProperties>
</file>